
<file path=[Content_Types].xml><?xml version="1.0" encoding="utf-8"?>
<Types xmlns="http://schemas.openxmlformats.org/package/2006/content-types">
  <Default ContentType="image/jpeg" Extension="jpg"/>
  <Default ContentType="application/vnd.openxmlformats-officedocument.spreadsheetml.sheet" Extension="xlsx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8.xml"/>
  <Override ContentType="application/vnd.openxmlformats-officedocument.drawingml.chart+xml" PartName="/ppt/charts/chart9.xml"/>
  <Override ContentType="application/vnd.openxmlformats-officedocument.drawingml.chart+xml" PartName="/ppt/charts/chart2.xml"/>
  <Override ContentType="application/vnd.openxmlformats-officedocument.drawingml.chart+xml" PartName="/ppt/charts/chart7.xml"/>
  <Override ContentType="application/vnd.openxmlformats-officedocument.drawingml.chart+xml" PartName="/ppt/charts/chart5.xml"/>
  <Override ContentType="application/vnd.openxmlformats-officedocument.drawingml.chart+xml" PartName="/ppt/charts/chart4.xml"/>
  <Override ContentType="application/vnd.openxmlformats-officedocument.drawingml.chart+xml" PartName="/ppt/charts/chart6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imrdriz55qu+jyNrn9pbhNLgDV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</c:v>
                </c:pt>
              </c:strCache>
            </c:strRef>
          </c:tx>
          <c:spPr>
            <a:solidFill>
              <a:srgbClr val="00A6A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Toronto</c:v>
                </c:pt>
                <c:pt idx="1">
                  <c:v>Montreal</c:v>
                </c:pt>
                <c:pt idx="2">
                  <c:v>Vancouver</c:v>
                </c:pt>
                <c:pt idx="3">
                  <c:v>Calgary</c:v>
                </c:pt>
                <c:pt idx="4">
                  <c:v>Halifax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396</c:v>
                </c:pt>
                <c:pt idx="1">
                  <c:v>307</c:v>
                </c:pt>
                <c:pt idx="2">
                  <c:v>405</c:v>
                </c:pt>
                <c:pt idx="3">
                  <c:v>18</c:v>
                </c:pt>
                <c:pt idx="4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50-4948-828B-383300BA23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</c:v>
                </c:pt>
              </c:strCache>
            </c:strRef>
          </c:tx>
          <c:spPr>
            <a:solidFill>
              <a:srgbClr val="00A6A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Toronto</c:v>
                </c:pt>
                <c:pt idx="1">
                  <c:v>Montreal</c:v>
                </c:pt>
                <c:pt idx="2">
                  <c:v>Vancouver</c:v>
                </c:pt>
                <c:pt idx="3">
                  <c:v>Calgary</c:v>
                </c:pt>
                <c:pt idx="4">
                  <c:v>Halifax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68141.41</c:v>
                </c:pt>
                <c:pt idx="1">
                  <c:v>66120.52</c:v>
                </c:pt>
                <c:pt idx="2">
                  <c:v>92277.78</c:v>
                </c:pt>
                <c:pt idx="3">
                  <c:v>93916.67</c:v>
                </c:pt>
                <c:pt idx="4">
                  <c:v>104687.5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63-054F-B13C-DD793AE5F6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Individual Contributor</c:v>
                </c:pt>
              </c:strCache>
            </c:strRef>
          </c:tx>
          <c:spPr>
            <a:solidFill>
              <a:srgbClr val="00A6A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Toronto</c:v>
                </c:pt>
                <c:pt idx="1">
                  <c:v>Montreal</c:v>
                </c:pt>
                <c:pt idx="2">
                  <c:v>Vancouver</c:v>
                </c:pt>
                <c:pt idx="3">
                  <c:v>Calgary</c:v>
                </c:pt>
                <c:pt idx="4">
                  <c:v>Halifax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65193.13</c:v>
                </c:pt>
                <c:pt idx="1">
                  <c:v>63456.76</c:v>
                </c:pt>
                <c:pt idx="2">
                  <c:v>89777.53</c:v>
                </c:pt>
                <c:pt idx="3">
                  <c:v>75950</c:v>
                </c:pt>
                <c:pt idx="4">
                  <c:v>99285.71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41-764F-8A85-EB3DAC90CAE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Manager</c:v>
                </c:pt>
              </c:strCache>
            </c:strRef>
          </c:tx>
          <c:spPr>
            <a:solidFill>
              <a:srgbClr val="0B1F3B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Toronto</c:v>
                </c:pt>
                <c:pt idx="1">
                  <c:v>Montreal</c:v>
                </c:pt>
                <c:pt idx="2">
                  <c:v>Vancouver</c:v>
                </c:pt>
                <c:pt idx="3">
                  <c:v>Calgary</c:v>
                </c:pt>
                <c:pt idx="4">
                  <c:v>Halifax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77689.66</c:v>
                </c:pt>
                <c:pt idx="1">
                  <c:v>77102.27</c:v>
                </c:pt>
                <c:pt idx="2">
                  <c:v>95222.22</c:v>
                </c:pt>
                <c:pt idx="3">
                  <c:v>102375</c:v>
                </c:pt>
                <c:pt idx="4">
                  <c:v>142500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241-764F-8A85-EB3DAC90CA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Ratings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530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093-7141-A86E-1123370C4E78}"/>
              </c:ext>
            </c:extLst>
          </c:dPt>
          <c:dPt>
            <c:idx val="1"/>
            <c:bubble3D val="0"/>
            <c:spPr>
              <a:solidFill>
                <a:srgbClr val="7180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093-7141-A86E-1123370C4E78}"/>
              </c:ext>
            </c:extLst>
          </c:dPt>
          <c:dPt>
            <c:idx val="2"/>
            <c:bubble3D val="0"/>
            <c:spPr>
              <a:solidFill>
                <a:srgbClr val="00A6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093-7141-A86E-1123370C4E78}"/>
              </c:ext>
            </c:extLst>
          </c:dPt>
          <c:dPt>
            <c:idx val="3"/>
            <c:bubble3D val="0"/>
            <c:spPr>
              <a:solidFill>
                <a:srgbClr val="2B6C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093-7141-A86E-1123370C4E78}"/>
              </c:ext>
            </c:extLst>
          </c:dPt>
          <c:dPt>
            <c:idx val="4"/>
            <c:bubble3D val="0"/>
            <c:spPr>
              <a:solidFill>
                <a:srgbClr val="805AD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093-7141-A86E-1123370C4E78}"/>
              </c:ext>
            </c:extLst>
          </c:dPt>
          <c:cat>
            <c:strRef>
              <c:f>Sheet1!$A$2:$A$6</c:f>
              <c:strCache>
                <c:ptCount val="5"/>
                <c:pt idx="0">
                  <c:v>Needs Dev</c:v>
                </c:pt>
                <c:pt idx="1">
                  <c:v>Meets</c:v>
                </c:pt>
                <c:pt idx="2">
                  <c:v>Sometimes Exceeds</c:v>
                </c:pt>
                <c:pt idx="3">
                  <c:v>Often Exceeds</c:v>
                </c:pt>
                <c:pt idx="4">
                  <c:v>Leads Excellence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227</c:v>
                </c:pt>
                <c:pt idx="2">
                  <c:v>716</c:v>
                </c:pt>
                <c:pt idx="3">
                  <c:v>143</c:v>
                </c:pt>
                <c:pt idx="4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093-7141-A86E-1123370C4E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Needs Dev</c:v>
                </c:pt>
              </c:strCache>
            </c:strRef>
          </c:tx>
          <c:spPr>
            <a:solidFill>
              <a:srgbClr val="C5303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Technology</c:v>
                </c:pt>
                <c:pt idx="1">
                  <c:v>Customer Service</c:v>
                </c:pt>
                <c:pt idx="2">
                  <c:v>Sales</c:v>
                </c:pt>
                <c:pt idx="3">
                  <c:v>Corporate</c:v>
                </c:pt>
                <c:pt idx="4">
                  <c:v>Marketing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9</c:v>
                </c:pt>
                <c:pt idx="2">
                  <c:v>8</c:v>
                </c:pt>
                <c:pt idx="3">
                  <c:v>6</c:v>
                </c:pt>
                <c:pt idx="4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76-4545-8AB9-15EEC9C2BDE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Meets</c:v>
                </c:pt>
              </c:strCache>
            </c:strRef>
          </c:tx>
          <c:spPr>
            <a:solidFill>
              <a:srgbClr val="71809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Technology</c:v>
                </c:pt>
                <c:pt idx="1">
                  <c:v>Customer Service</c:v>
                </c:pt>
                <c:pt idx="2">
                  <c:v>Sales</c:v>
                </c:pt>
                <c:pt idx="3">
                  <c:v>Corporate</c:v>
                </c:pt>
                <c:pt idx="4">
                  <c:v>Marketing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106</c:v>
                </c:pt>
                <c:pt idx="1">
                  <c:v>60</c:v>
                </c:pt>
                <c:pt idx="2">
                  <c:v>22</c:v>
                </c:pt>
                <c:pt idx="3">
                  <c:v>14</c:v>
                </c:pt>
                <c:pt idx="4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776-4545-8AB9-15EEC9C2BDE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Sometimes Exceeds</c:v>
                </c:pt>
              </c:strCache>
            </c:strRef>
          </c:tx>
          <c:spPr>
            <a:solidFill>
              <a:srgbClr val="00A6A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Technology</c:v>
                </c:pt>
                <c:pt idx="1">
                  <c:v>Customer Service</c:v>
                </c:pt>
                <c:pt idx="2">
                  <c:v>Sales</c:v>
                </c:pt>
                <c:pt idx="3">
                  <c:v>Corporate</c:v>
                </c:pt>
                <c:pt idx="4">
                  <c:v>Marketing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234</c:v>
                </c:pt>
                <c:pt idx="1">
                  <c:v>174</c:v>
                </c:pt>
                <c:pt idx="2">
                  <c:v>140</c:v>
                </c:pt>
                <c:pt idx="3">
                  <c:v>105</c:v>
                </c:pt>
                <c:pt idx="4">
                  <c:v>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776-4545-8AB9-15EEC9C2BDE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Often Exceeds</c:v>
                </c:pt>
              </c:strCache>
            </c:strRef>
          </c:tx>
          <c:spPr>
            <a:solidFill>
              <a:srgbClr val="2B6CB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Technology</c:v>
                </c:pt>
                <c:pt idx="1">
                  <c:v>Customer Service</c:v>
                </c:pt>
                <c:pt idx="2">
                  <c:v>Sales</c:v>
                </c:pt>
                <c:pt idx="3">
                  <c:v>Corporate</c:v>
                </c:pt>
                <c:pt idx="4">
                  <c:v>Marketing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51</c:v>
                </c:pt>
                <c:pt idx="1">
                  <c:v>35</c:v>
                </c:pt>
                <c:pt idx="2">
                  <c:v>27</c:v>
                </c:pt>
                <c:pt idx="3">
                  <c:v>24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776-4545-8AB9-15EEC9C2BDE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Leads Excellence</c:v>
                </c:pt>
              </c:strCache>
            </c:strRef>
          </c:tx>
          <c:spPr>
            <a:solidFill>
              <a:srgbClr val="805AD5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Technology</c:v>
                </c:pt>
                <c:pt idx="1">
                  <c:v>Customer Service</c:v>
                </c:pt>
                <c:pt idx="2">
                  <c:v>Sales</c:v>
                </c:pt>
                <c:pt idx="3">
                  <c:v>Corporate</c:v>
                </c:pt>
                <c:pt idx="4">
                  <c:v>Marketing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7</c:v>
                </c:pt>
                <c:pt idx="1">
                  <c:v>4</c:v>
                </c:pt>
                <c:pt idx="2">
                  <c:v>1</c:v>
                </c:pt>
                <c:pt idx="3">
                  <c:v>4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776-4545-8AB9-15EEC9C2BD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Favourable %</c:v>
                </c:pt>
              </c:strCache>
            </c:strRef>
          </c:tx>
          <c:spPr>
            <a:solidFill>
              <a:srgbClr val="00A6A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Engaged in work</c:v>
                </c:pt>
                <c:pt idx="1">
                  <c:v>Recommend H4L</c:v>
                </c:pt>
                <c:pt idx="2">
                  <c:v>PTO w/o guilt</c:v>
                </c:pt>
                <c:pt idx="3">
                  <c:v>Fair pay</c:v>
                </c:pt>
                <c:pt idx="4">
                  <c:v>Culture aligns</c:v>
                </c:pt>
                <c:pt idx="5">
                  <c:v>Plan stay 2+ yrs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80.900000000000006</c:v>
                </c:pt>
                <c:pt idx="1">
                  <c:v>63.6</c:v>
                </c:pt>
                <c:pt idx="2">
                  <c:v>35.799999999999997</c:v>
                </c:pt>
                <c:pt idx="3">
                  <c:v>32.299999999999997</c:v>
                </c:pt>
                <c:pt idx="4">
                  <c:v>30.9</c:v>
                </c:pt>
                <c:pt idx="5">
                  <c:v>38.1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F7-9E4F-895E-8B9877A76D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PTO w/o guilt</c:v>
                </c:pt>
              </c:strCache>
            </c:strRef>
          </c:tx>
          <c:spPr>
            <a:solidFill>
              <a:srgbClr val="C5303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Toronto</c:v>
                </c:pt>
                <c:pt idx="1">
                  <c:v>Montreal</c:v>
                </c:pt>
                <c:pt idx="2">
                  <c:v>Vancouver</c:v>
                </c:pt>
                <c:pt idx="3">
                  <c:v>Calgary</c:v>
                </c:pt>
                <c:pt idx="4">
                  <c:v>Halifax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35.4</c:v>
                </c:pt>
                <c:pt idx="1">
                  <c:v>35</c:v>
                </c:pt>
                <c:pt idx="2">
                  <c:v>35.299999999999997</c:v>
                </c:pt>
                <c:pt idx="3">
                  <c:v>70.599999999999994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21-DA44-B5E0-143DB8353F1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Fair pay</c:v>
                </c:pt>
              </c:strCache>
            </c:strRef>
          </c:tx>
          <c:spPr>
            <a:solidFill>
              <a:srgbClr val="00A6A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Toronto</c:v>
                </c:pt>
                <c:pt idx="1">
                  <c:v>Montreal</c:v>
                </c:pt>
                <c:pt idx="2">
                  <c:v>Vancouver</c:v>
                </c:pt>
                <c:pt idx="3">
                  <c:v>Calgary</c:v>
                </c:pt>
                <c:pt idx="4">
                  <c:v>Halifax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35.799999999999997</c:v>
                </c:pt>
                <c:pt idx="1">
                  <c:v>27.7</c:v>
                </c:pt>
                <c:pt idx="2">
                  <c:v>31.2</c:v>
                </c:pt>
                <c:pt idx="3">
                  <c:v>41.2</c:v>
                </c:pt>
                <c:pt idx="4">
                  <c:v>33.299999999999997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21-DA44-B5E0-143DB8353F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ratings %</c:v>
                </c:pt>
              </c:strCache>
            </c:strRef>
          </c:tx>
          <c:spPr>
            <a:solidFill>
              <a:srgbClr val="0B1F3B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Toronto</c:v>
                </c:pt>
                <c:pt idx="1">
                  <c:v>Montreal</c:v>
                </c:pt>
                <c:pt idx="2">
                  <c:v>Vancouver</c:v>
                </c:pt>
                <c:pt idx="3">
                  <c:v>Calgary</c:v>
                </c:pt>
                <c:pt idx="4">
                  <c:v>Halifax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14.4</c:v>
                </c:pt>
                <c:pt idx="1">
                  <c:v>13.7</c:v>
                </c:pt>
                <c:pt idx="2">
                  <c:v>13.6</c:v>
                </c:pt>
                <c:pt idx="3">
                  <c:v>33.299999999999997</c:v>
                </c:pt>
                <c:pt idx="4">
                  <c:v>6.2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A7-5343-9079-B17DD07F9A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 Index (1–5)</c:v>
                </c:pt>
              </c:strCache>
            </c:strRef>
          </c:tx>
          <c:spPr>
            <a:ln w="25400" cap="flat">
              <a:solidFill>
                <a:srgbClr val="00A6A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A6A6"/>
              </a:solidFill>
              <a:ln w="9525" cap="flat">
                <a:solidFill>
                  <a:srgbClr val="00A6A6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0 days</c:v>
                </c:pt>
                <c:pt idx="1">
                  <c:v>1–5</c:v>
                </c:pt>
                <c:pt idx="2">
                  <c:v>6–10</c:v>
                </c:pt>
                <c:pt idx="3">
                  <c:v>11–15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3.18</c:v>
                </c:pt>
                <c:pt idx="1">
                  <c:v>3.22</c:v>
                </c:pt>
                <c:pt idx="2">
                  <c:v>3.29</c:v>
                </c:pt>
                <c:pt idx="3">
                  <c:v>3.3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75F-BE44-91AE-6AE01A8B524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Performance (mapped 1–5)</c:v>
                </c:pt>
              </c:strCache>
            </c:strRef>
          </c:tx>
          <c:spPr>
            <a:ln w="25400" cap="flat">
              <a:solidFill>
                <a:srgbClr val="0B1F3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B1F3B"/>
              </a:solidFill>
              <a:ln w="9525" cap="flat">
                <a:solidFill>
                  <a:srgbClr val="0B1F3B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0 days</c:v>
                </c:pt>
                <c:pt idx="1">
                  <c:v>1–5</c:v>
                </c:pt>
                <c:pt idx="2">
                  <c:v>6–10</c:v>
                </c:pt>
                <c:pt idx="3">
                  <c:v>11–15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3.07</c:v>
                </c:pt>
                <c:pt idx="1">
                  <c:v>3.15</c:v>
                </c:pt>
                <c:pt idx="2">
                  <c:v>3.14</c:v>
                </c:pt>
                <c:pt idx="3">
                  <c:v>2.94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75F-BE44-91AE-6AE01A8B52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4"/>
          <c:min val="2.6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" name="Google Shape;6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0" name="Google Shape;27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7" name="Google Shape;307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8" name="Google Shape;308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8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toronto_skyline.jpg" id="12" name="Google Shape;12;p1"/>
          <p:cNvPicPr preferRelativeResize="0"/>
          <p:nvPr/>
        </p:nvPicPr>
        <p:blipFill rotWithShape="1">
          <a:blip r:embed="rId3">
            <a:alphaModFix/>
          </a:blip>
          <a:srcRect b="7810" l="0" r="0" t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4902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548640" y="2103120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Lights, Data, Action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548650" y="3931925"/>
            <a:ext cx="6431400" cy="548700"/>
          </a:xfrm>
          <a:prstGeom prst="roundRect">
            <a:avLst>
              <a:gd fmla="val 16667" name="adj"/>
            </a:avLst>
          </a:prstGeom>
          <a:solidFill>
            <a:srgbClr val="00A6A6">
              <a:alpha val="89804"/>
            </a:srgbClr>
          </a:solidFill>
          <a:ln cap="flat" cmpd="sng" w="12700">
            <a:solidFill>
              <a:srgbClr val="00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548650" y="3840575"/>
            <a:ext cx="6431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Prepared for: CEO &amp; VP, Human Resources</a:t>
            </a:r>
            <a:endParaRPr b="1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Presented by: Leticia Mie Otani</a:t>
            </a:r>
            <a:endParaRPr b="1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48640" y="4709160"/>
            <a:ext cx="11094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7E3F4"/>
                </a:solidFill>
                <a:latin typeface="Calibri"/>
                <a:ea typeface="Calibri"/>
                <a:cs typeface="Calibri"/>
                <a:sym typeface="Calibri"/>
              </a:rPr>
              <a:t>People Analytics | 2023Q2 HRIS + Engagement Survey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cap="flat" cmpd="sng" w="12700">
            <a:solidFill>
              <a:srgbClr val="0B1F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Executive Summary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548640" y="457200"/>
            <a:ext cx="1109441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7E3F4"/>
                </a:solidFill>
                <a:latin typeface="Calibri"/>
                <a:ea typeface="Calibri"/>
                <a:cs typeface="Calibri"/>
                <a:sym typeface="Calibri"/>
              </a:rPr>
              <a:t>What the data says about “work-hard, play-hard” — and what to do next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" name="Google Shape;26;p2"/>
          <p:cNvGrpSpPr/>
          <p:nvPr/>
        </p:nvGrpSpPr>
        <p:grpSpPr>
          <a:xfrm>
            <a:off x="548640" y="868680"/>
            <a:ext cx="2724912" cy="1005840"/>
            <a:chOff x="548640" y="868680"/>
            <a:chExt cx="2724912" cy="1005840"/>
          </a:xfrm>
        </p:grpSpPr>
        <p:sp>
          <p:nvSpPr>
            <p:cNvPr id="27" name="Google Shape;27;p2"/>
            <p:cNvSpPr/>
            <p:nvPr/>
          </p:nvSpPr>
          <p:spPr>
            <a:xfrm>
              <a:off x="548640" y="868680"/>
              <a:ext cx="2520000" cy="100584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2700">
              <a:solidFill>
                <a:srgbClr val="CBD5E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5400" rotWithShape="0" algn="bl" dir="2700000" dist="15240">
                <a:srgbClr val="000000">
                  <a:alpha val="11765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48640" y="868680"/>
              <a:ext cx="73152" cy="1005840"/>
            </a:xfrm>
            <a:prstGeom prst="rect">
              <a:avLst/>
            </a:prstGeom>
            <a:solidFill>
              <a:srgbClr val="00A6A6"/>
            </a:solidFill>
            <a:ln cap="flat" cmpd="sng" w="12700">
              <a:solidFill>
                <a:srgbClr val="00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713232" y="1014984"/>
              <a:ext cx="25603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Employees in HRIS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13232" y="1252728"/>
              <a:ext cx="256032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1F3B"/>
                </a:buClr>
                <a:buSzPts val="2600"/>
                <a:buFont typeface="Calibri"/>
                <a:buNone/>
              </a:pPr>
              <a:r>
                <a:rPr b="1" i="0" lang="en-US" sz="2600" u="none" cap="none" strike="noStrike">
                  <a:solidFill>
                    <a:srgbClr val="0B1F3B"/>
                  </a:solidFill>
                  <a:latin typeface="Calibri"/>
                  <a:ea typeface="Calibri"/>
                  <a:cs typeface="Calibri"/>
                  <a:sym typeface="Calibri"/>
                </a:rPr>
                <a:t>1,142</a:t>
              </a:r>
              <a:endPara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" name="Google Shape;31;p2"/>
          <p:cNvGrpSpPr/>
          <p:nvPr/>
        </p:nvGrpSpPr>
        <p:grpSpPr>
          <a:xfrm>
            <a:off x="3394241" y="868680"/>
            <a:ext cx="2724912" cy="1005840"/>
            <a:chOff x="3520440" y="868680"/>
            <a:chExt cx="2724912" cy="1005840"/>
          </a:xfrm>
        </p:grpSpPr>
        <p:sp>
          <p:nvSpPr>
            <p:cNvPr id="32" name="Google Shape;32;p2"/>
            <p:cNvSpPr/>
            <p:nvPr/>
          </p:nvSpPr>
          <p:spPr>
            <a:xfrm>
              <a:off x="3520440" y="868680"/>
              <a:ext cx="2520000" cy="100584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2700">
              <a:solidFill>
                <a:srgbClr val="CBD5E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5400" rotWithShape="0" algn="bl" dir="2700000" dist="15240">
                <a:srgbClr val="000000">
                  <a:alpha val="11765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3520440" y="868680"/>
              <a:ext cx="73152" cy="1005840"/>
            </a:xfrm>
            <a:prstGeom prst="rect">
              <a:avLst/>
            </a:prstGeom>
            <a:solidFill>
              <a:srgbClr val="00A6A6"/>
            </a:solidFill>
            <a:ln cap="flat" cmpd="sng" w="12700">
              <a:solidFill>
                <a:srgbClr val="00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3685032" y="1014984"/>
              <a:ext cx="25603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Survey responses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3685032" y="1252728"/>
              <a:ext cx="256032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1F3B"/>
                </a:buClr>
                <a:buSzPts val="2600"/>
                <a:buFont typeface="Calibri"/>
                <a:buNone/>
              </a:pPr>
              <a:r>
                <a:rPr b="1" i="0" lang="en-US" sz="2600" u="none" cap="none" strike="noStrike">
                  <a:solidFill>
                    <a:srgbClr val="0B1F3B"/>
                  </a:solidFill>
                  <a:latin typeface="Calibri"/>
                  <a:ea typeface="Calibri"/>
                  <a:cs typeface="Calibri"/>
                  <a:sym typeface="Calibri"/>
                </a:rPr>
                <a:t>679</a:t>
              </a:r>
              <a:endPara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" name="Google Shape;36;p2"/>
          <p:cNvGrpSpPr/>
          <p:nvPr/>
        </p:nvGrpSpPr>
        <p:grpSpPr>
          <a:xfrm>
            <a:off x="6239842" y="868680"/>
            <a:ext cx="2724912" cy="1005840"/>
            <a:chOff x="6492240" y="868680"/>
            <a:chExt cx="2724912" cy="1005840"/>
          </a:xfrm>
        </p:grpSpPr>
        <p:sp>
          <p:nvSpPr>
            <p:cNvPr id="37" name="Google Shape;37;p2"/>
            <p:cNvSpPr/>
            <p:nvPr/>
          </p:nvSpPr>
          <p:spPr>
            <a:xfrm>
              <a:off x="6492240" y="868680"/>
              <a:ext cx="2520000" cy="100584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2700">
              <a:solidFill>
                <a:srgbClr val="CBD5E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5400" rotWithShape="0" algn="bl" dir="2700000" dist="15240">
                <a:srgbClr val="000000">
                  <a:alpha val="11765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6492240" y="868680"/>
              <a:ext cx="73152" cy="1005840"/>
            </a:xfrm>
            <a:prstGeom prst="rect">
              <a:avLst/>
            </a:prstGeom>
            <a:solidFill>
              <a:srgbClr val="00A6A6"/>
            </a:solidFill>
            <a:ln cap="flat" cmpd="sng" w="12700">
              <a:solidFill>
                <a:srgbClr val="00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6656832" y="1014984"/>
              <a:ext cx="25603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Engaged in work (favourable)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6656832" y="1252728"/>
              <a:ext cx="256032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1F3B"/>
                </a:buClr>
                <a:buSzPts val="2600"/>
                <a:buFont typeface="Calibri"/>
                <a:buNone/>
              </a:pPr>
              <a:r>
                <a:rPr b="1" i="0" lang="en-US" sz="2600" u="none" cap="none" strike="noStrike">
                  <a:solidFill>
                    <a:srgbClr val="0B1F3B"/>
                  </a:solidFill>
                  <a:latin typeface="Calibri"/>
                  <a:ea typeface="Calibri"/>
                  <a:cs typeface="Calibri"/>
                  <a:sym typeface="Calibri"/>
                </a:rPr>
                <a:t>81%</a:t>
              </a:r>
              <a:endPara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" name="Google Shape;41;p2"/>
          <p:cNvGrpSpPr/>
          <p:nvPr/>
        </p:nvGrpSpPr>
        <p:grpSpPr>
          <a:xfrm>
            <a:off x="9085444" y="868680"/>
            <a:ext cx="2520000" cy="1005840"/>
            <a:chOff x="9171432" y="868680"/>
            <a:chExt cx="2520000" cy="1005840"/>
          </a:xfrm>
        </p:grpSpPr>
        <p:sp>
          <p:nvSpPr>
            <p:cNvPr id="42" name="Google Shape;42;p2"/>
            <p:cNvSpPr/>
            <p:nvPr/>
          </p:nvSpPr>
          <p:spPr>
            <a:xfrm>
              <a:off x="9171432" y="868680"/>
              <a:ext cx="2520000" cy="100584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2700">
              <a:solidFill>
                <a:srgbClr val="CBD5E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5400" rotWithShape="0" algn="bl" dir="2700000" dist="15240">
                <a:srgbClr val="000000">
                  <a:alpha val="11765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9171432" y="868680"/>
              <a:ext cx="73152" cy="1005840"/>
            </a:xfrm>
            <a:prstGeom prst="rect">
              <a:avLst/>
            </a:prstGeom>
            <a:solidFill>
              <a:srgbClr val="C53030"/>
            </a:solidFill>
            <a:ln cap="flat" cmpd="sng" w="12700">
              <a:solidFill>
                <a:srgbClr val="C530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9336024" y="1014984"/>
              <a:ext cx="21945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PTO w/o guilt (favourable)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9336024" y="1252728"/>
              <a:ext cx="219456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1F3B"/>
                </a:buClr>
                <a:buSzPts val="2600"/>
                <a:buFont typeface="Calibri"/>
                <a:buNone/>
              </a:pPr>
              <a:r>
                <a:rPr b="1" i="0" lang="en-US" sz="2600" u="none" cap="none" strike="noStrike">
                  <a:solidFill>
                    <a:srgbClr val="0B1F3B"/>
                  </a:solidFill>
                  <a:latin typeface="Calibri"/>
                  <a:ea typeface="Calibri"/>
                  <a:cs typeface="Calibri"/>
                  <a:sym typeface="Calibri"/>
                </a:rPr>
                <a:t>36%</a:t>
              </a:r>
              <a:endPara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" name="Google Shape;46;p2"/>
          <p:cNvSpPr/>
          <p:nvPr/>
        </p:nvSpPr>
        <p:spPr>
          <a:xfrm>
            <a:off x="548640" y="2148840"/>
            <a:ext cx="3119018" cy="4206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3970">
              <a:srgbClr val="000000">
                <a:alpha val="9804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3896258" y="2148840"/>
            <a:ext cx="3576218" cy="4206240"/>
          </a:xfrm>
          <a:prstGeom prst="roundRect">
            <a:avLst>
              <a:gd fmla="val 13057" name="adj"/>
            </a:avLst>
          </a:prstGeom>
          <a:solidFill>
            <a:srgbClr val="FFFFFF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3970">
              <a:srgbClr val="000000">
                <a:alpha val="9804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7701076" y="2148840"/>
            <a:ext cx="3941979" cy="4206240"/>
          </a:xfrm>
          <a:prstGeom prst="roundRect">
            <a:avLst>
              <a:gd fmla="val 12028" name="adj"/>
            </a:avLst>
          </a:prstGeom>
          <a:solidFill>
            <a:srgbClr val="FFFFFF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3970">
              <a:srgbClr val="000000">
                <a:alpha val="9804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148029" y="2377440"/>
            <a:ext cx="1920240" cy="320040"/>
          </a:xfrm>
          <a:prstGeom prst="roundRect">
            <a:avLst>
              <a:gd fmla="val 16667" name="adj"/>
            </a:avLst>
          </a:prstGeom>
          <a:solidFill>
            <a:srgbClr val="00A6A6"/>
          </a:solidFill>
          <a:ln cap="flat" cmpd="sng" w="12700">
            <a:solidFill>
              <a:srgbClr val="00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148029" y="2432304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1) What </a:t>
            </a: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tested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868680" y="2834640"/>
            <a:ext cx="293613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• Pay equity by office × level</a:t>
            </a:r>
            <a:b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• Performance distribution by department</a:t>
            </a:r>
            <a:b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• “Play-hard” signals from engagement + time off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868680" y="4663440"/>
            <a:ext cx="29361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Core question: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868680" y="4617720"/>
            <a:ext cx="2514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Is the culture delivering high performance, satisfaction, and retention intent — at a sustainable cost?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724247" y="2377440"/>
            <a:ext cx="1920240" cy="320040"/>
          </a:xfrm>
          <a:prstGeom prst="roundRect">
            <a:avLst>
              <a:gd fmla="val 16667" name="adj"/>
            </a:avLst>
          </a:prstGeom>
          <a:solidFill>
            <a:srgbClr val="00A6A6"/>
          </a:solidFill>
          <a:ln cap="flat" cmpd="sng" w="12700">
            <a:solidFill>
              <a:srgbClr val="00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724247" y="2432304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2) What </a:t>
            </a: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found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216298" y="2834640"/>
            <a:ext cx="2936138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• Workforce is highly concentrated: Toronto, Montreal, Vancouver hold ~97% of headcount.</a:t>
            </a:r>
            <a:br>
              <a:rPr b="0" i="0" lang="en-US" sz="13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• Compensation is inconsistent by location: Halifax is highest avg salary ($104.7k) despite no Director/VP roles.</a:t>
            </a:r>
            <a:br>
              <a:rPr b="0" i="0" lang="en-US" sz="13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• Ratings show compression: 62.7% are “Sometimes Exceeds,” while only 1.6% are “Leads Excellence.”</a:t>
            </a:r>
            <a:br>
              <a:rPr b="0" i="0" lang="en-US" sz="13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• “Work-hard” is strong (81% engaged), but “play-hard” is weak (only 36% feel OK taking PTO).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8711945" y="2377440"/>
            <a:ext cx="1920240" cy="320040"/>
          </a:xfrm>
          <a:prstGeom prst="roundRect">
            <a:avLst>
              <a:gd fmla="val 16667" name="adj"/>
            </a:avLst>
          </a:prstGeom>
          <a:solidFill>
            <a:srgbClr val="00A6A6"/>
          </a:solidFill>
          <a:ln cap="flat" cmpd="sng" w="12700">
            <a:solidFill>
              <a:srgbClr val="00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8711945" y="2432304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3) What </a:t>
            </a: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recommend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8042630" y="2834640"/>
            <a:ext cx="3280689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Standardize pay bands across offices (with market exceptions) and correct outliers.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Recalibrate performance ratings + coaching to restore differentiation and credibility.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Make “play-hard” operational: leadership PTO norms, manager enablement, and workload guardrails.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Target development in Technology &amp; Customer Service; adopt Sales incentives as a best-practice baseline.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8042631" y="5413248"/>
            <a:ext cx="3280688" cy="758952"/>
          </a:xfrm>
          <a:prstGeom prst="roundRect">
            <a:avLst>
              <a:gd fmla="val 16667" name="adj"/>
            </a:avLst>
          </a:prstGeom>
          <a:solidFill>
            <a:srgbClr val="E6FFFA"/>
          </a:solidFill>
          <a:ln cap="flat" cmpd="sng" w="12700">
            <a:solidFill>
              <a:srgbClr val="B2F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8225511" y="5113909"/>
            <a:ext cx="257037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A8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8A8A"/>
                </a:solidFill>
                <a:latin typeface="Calibri"/>
                <a:ea typeface="Calibri"/>
                <a:cs typeface="Calibri"/>
                <a:sym typeface="Calibri"/>
              </a:rPr>
              <a:t>Expected outcomes (6–12 months)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8225511" y="5477791"/>
            <a:ext cx="296034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• Reduced pay-risk &amp; better internal mobility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• Clearer performance signal → better development targeting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• Higher PTO comfort → lower burnout risk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cap="flat" cmpd="sng" w="12700">
            <a:solidFill>
              <a:srgbClr val="F3F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548640" y="6601968"/>
            <a:ext cx="5943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H4L Inc. | People Analytics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11185855" y="660196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cap="flat" cmpd="sng" w="12700">
            <a:solidFill>
              <a:srgbClr val="0B1F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Workforce Footprint &amp; Operating Model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48640" y="457200"/>
            <a:ext cx="1109441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7E3F4"/>
                </a:solidFill>
                <a:latin typeface="Calibri"/>
                <a:ea typeface="Calibri"/>
                <a:cs typeface="Calibri"/>
                <a:sym typeface="Calibri"/>
              </a:rPr>
              <a:t>Concentration + functional specialization shape collaboration and career mobility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548640" y="960120"/>
            <a:ext cx="6400800" cy="5303520"/>
          </a:xfrm>
          <a:prstGeom prst="roundRect">
            <a:avLst>
              <a:gd fmla="val 8453" name="adj"/>
            </a:avLst>
          </a:prstGeom>
          <a:solidFill>
            <a:srgbClr val="FFFFFF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3970">
              <a:srgbClr val="000000">
                <a:alpha val="9804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822960" y="1132782"/>
            <a:ext cx="5852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Headcount by office (HRIS)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6" name="Google Shape;76;p3"/>
          <p:cNvGraphicFramePr/>
          <p:nvPr/>
        </p:nvGraphicFramePr>
        <p:xfrm>
          <a:off x="822960" y="1471110"/>
          <a:ext cx="5852160" cy="452628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77" name="Google Shape;77;p3"/>
          <p:cNvSpPr/>
          <p:nvPr/>
        </p:nvSpPr>
        <p:spPr>
          <a:xfrm>
            <a:off x="7132320" y="960120"/>
            <a:ext cx="4510735" cy="5303520"/>
          </a:xfrm>
          <a:prstGeom prst="roundRect">
            <a:avLst>
              <a:gd fmla="val 8275" name="adj"/>
            </a:avLst>
          </a:prstGeom>
          <a:solidFill>
            <a:srgbClr val="FFFFFF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3970">
              <a:srgbClr val="000000">
                <a:alpha val="9804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7360920" y="113278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7360920" y="1471110"/>
            <a:ext cx="40081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Concentration: Toronto, Montreal, Vancouver account for ~97% of headcount.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2D37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Small sites: Calgary + Halifax together are ~3% — evaluate the long-term intent for these locations.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2D37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Functional split by location: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Montreal/Toronto: Corporate + Customer Service hubs</a:t>
            </a:r>
            <a:b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Vancouver/Calgary/Halifax: Technology-heavy sites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Risk: limited cross-functional collaboration and fewer internal mobility paths in smaller sites.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cap="flat" cmpd="sng" w="12700">
            <a:solidFill>
              <a:srgbClr val="F3F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48640" y="6601968"/>
            <a:ext cx="5943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H4L Inc. | People Analytics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11185855" y="660196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cap="flat" cmpd="sng" w="12700">
            <a:solidFill>
              <a:srgbClr val="0B1F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Compensation Equity &amp; Banding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548640" y="457200"/>
            <a:ext cx="1109441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7E3F4"/>
                </a:solidFill>
                <a:latin typeface="Calibri"/>
                <a:ea typeface="Calibri"/>
                <a:cs typeface="Calibri"/>
                <a:sym typeface="Calibri"/>
              </a:rPr>
              <a:t>Halifax shows a clear premium within the same level — suggesting inconsistent band application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548640" y="960120"/>
            <a:ext cx="5806440" cy="5303520"/>
          </a:xfrm>
          <a:prstGeom prst="roundRect">
            <a:avLst>
              <a:gd fmla="val 8260" name="adj"/>
            </a:avLst>
          </a:prstGeom>
          <a:solidFill>
            <a:srgbClr val="FFFFFF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3970">
              <a:srgbClr val="000000">
                <a:alpha val="9804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822960" y="1132782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Average salary by office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3" name="Google Shape;93;p4"/>
          <p:cNvGraphicFramePr/>
          <p:nvPr/>
        </p:nvGraphicFramePr>
        <p:xfrm>
          <a:off x="822960" y="1471110"/>
          <a:ext cx="5257800" cy="4032504"/>
        </p:xfrm>
        <a:graphic>
          <a:graphicData uri="http://schemas.openxmlformats.org/drawingml/2006/chart">
            <c:chart r:id="rId3"/>
          </a:graphicData>
        </a:graphic>
      </p:graphicFrame>
      <p:grpSp>
        <p:nvGrpSpPr>
          <p:cNvPr id="94" name="Google Shape;94;p4"/>
          <p:cNvGrpSpPr/>
          <p:nvPr/>
        </p:nvGrpSpPr>
        <p:grpSpPr>
          <a:xfrm>
            <a:off x="822960" y="5599965"/>
            <a:ext cx="5257800" cy="405955"/>
            <a:chOff x="822960" y="5559552"/>
            <a:chExt cx="5257800" cy="594360"/>
          </a:xfrm>
        </p:grpSpPr>
        <p:sp>
          <p:nvSpPr>
            <p:cNvPr id="95" name="Google Shape;95;p4"/>
            <p:cNvSpPr/>
            <p:nvPr/>
          </p:nvSpPr>
          <p:spPr>
            <a:xfrm>
              <a:off x="822960" y="5559552"/>
              <a:ext cx="5257800" cy="594360"/>
            </a:xfrm>
            <a:prstGeom prst="roundRect">
              <a:avLst>
                <a:gd fmla="val 16667" name="adj"/>
              </a:avLst>
            </a:prstGeom>
            <a:solidFill>
              <a:srgbClr val="FFF5F5"/>
            </a:solidFill>
            <a:ln cap="flat" cmpd="sng" w="12700">
              <a:solidFill>
                <a:srgbClr val="FED7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1051560" y="5687568"/>
              <a:ext cx="4754880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53030"/>
                </a:buClr>
                <a:buSzPts val="1300"/>
                <a:buFont typeface="Calibri"/>
                <a:buNone/>
              </a:pPr>
              <a:r>
                <a:rPr b="1" i="0" lang="en-US" sz="1300" u="none" cap="none" strike="noStrike">
                  <a:solidFill>
                    <a:srgbClr val="C53030"/>
                  </a:solidFill>
                  <a:latin typeface="Calibri"/>
                  <a:ea typeface="Calibri"/>
                  <a:cs typeface="Calibri"/>
                  <a:sym typeface="Calibri"/>
                </a:rPr>
                <a:t>Halifax is highest avg pay: $104.7k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7" name="Google Shape;97;p4"/>
          <p:cNvSpPr/>
          <p:nvPr/>
        </p:nvSpPr>
        <p:spPr>
          <a:xfrm>
            <a:off x="6583680" y="960120"/>
            <a:ext cx="5059375" cy="530352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3970">
              <a:srgbClr val="000000">
                <a:alpha val="9804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858000" y="1132782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Salary within the same level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9" name="Google Shape;99;p4"/>
          <p:cNvGraphicFramePr/>
          <p:nvPr/>
        </p:nvGraphicFramePr>
        <p:xfrm>
          <a:off x="6858000" y="1471110"/>
          <a:ext cx="4511040" cy="329184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00" name="Google Shape;100;p4"/>
          <p:cNvSpPr/>
          <p:nvPr/>
        </p:nvSpPr>
        <p:spPr>
          <a:xfrm>
            <a:off x="6858000" y="4768326"/>
            <a:ext cx="45110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What this suggests</a:t>
            </a:r>
            <a:br>
              <a:rPr b="0" i="0" lang="en-US" sz="13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Band application differs by location (equity risk).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Halifax ICs avg ~$99.3k vs Toronto ~$65.2k.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Priority: validate market premiums, role mix, and ensure policy consistency.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cap="flat" cmpd="sng" w="12700">
            <a:solidFill>
              <a:srgbClr val="F3F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548640" y="6601968"/>
            <a:ext cx="5943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H4L Inc. | People Analytics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11185855" y="660196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cap="flat" cmpd="sng" w="12700">
            <a:solidFill>
              <a:srgbClr val="0B1F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Performance: Differentiation &amp; Hotspots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548640" y="457200"/>
            <a:ext cx="1109441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7E3F4"/>
                </a:solidFill>
                <a:latin typeface="Calibri"/>
                <a:ea typeface="Calibri"/>
                <a:cs typeface="Calibri"/>
                <a:sym typeface="Calibri"/>
              </a:rPr>
              <a:t>Ratings cluster around “Sometimes Exceeds,” and distributions vary sharply by department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548640" y="960120"/>
            <a:ext cx="4480560" cy="5303520"/>
          </a:xfrm>
          <a:prstGeom prst="roundRect">
            <a:avLst>
              <a:gd fmla="val 8569" name="adj"/>
            </a:avLst>
          </a:prstGeom>
          <a:solidFill>
            <a:srgbClr val="FFFFFF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3970">
              <a:srgbClr val="000000">
                <a:alpha val="9804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822960" y="115156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Overall performance ratings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4" name="Google Shape;114;p5"/>
          <p:cNvGraphicFramePr/>
          <p:nvPr/>
        </p:nvGraphicFramePr>
        <p:xfrm>
          <a:off x="1051560" y="1553898"/>
          <a:ext cx="3566160" cy="32004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15" name="Google Shape;115;p5"/>
          <p:cNvSpPr/>
          <p:nvPr/>
        </p:nvSpPr>
        <p:spPr>
          <a:xfrm>
            <a:off x="822960" y="4986093"/>
            <a:ext cx="3931920" cy="843139"/>
          </a:xfrm>
          <a:prstGeom prst="roundRect">
            <a:avLst>
              <a:gd fmla="val 16667" name="adj"/>
            </a:avLst>
          </a:prstGeom>
          <a:solidFill>
            <a:srgbClr val="F3F6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1051560" y="4909314"/>
            <a:ext cx="3657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Rating compression signal: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• 62.7% “Sometimes Exceeds”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• 1.6% “Leads Excellence”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5257800" y="960120"/>
            <a:ext cx="6385255" cy="5303520"/>
          </a:xfrm>
          <a:prstGeom prst="roundRect">
            <a:avLst>
              <a:gd fmla="val 9004" name="adj"/>
            </a:avLst>
          </a:prstGeom>
          <a:solidFill>
            <a:srgbClr val="FFFFFF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3970">
              <a:srgbClr val="000000">
                <a:alpha val="9804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5532120" y="115156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Department performance distribution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9" name="Google Shape;119;p5"/>
          <p:cNvGraphicFramePr/>
          <p:nvPr/>
        </p:nvGraphicFramePr>
        <p:xfrm>
          <a:off x="5532120" y="1489890"/>
          <a:ext cx="5653735" cy="3496203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20" name="Google Shape;120;p5"/>
          <p:cNvSpPr/>
          <p:nvPr/>
        </p:nvSpPr>
        <p:spPr>
          <a:xfrm>
            <a:off x="5604690" y="5140234"/>
            <a:ext cx="5836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Hotspots to address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Technology: 106 “Meets” and only 7 “Leads Excellence” → capability / coaching opportunity.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Customer Service: widest spread and highest “Needs Dev” count (9).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Sales: stronger concentration above expectations — capture what’s working.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cap="flat" cmpd="sng" w="12700">
            <a:solidFill>
              <a:srgbClr val="F3F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548640" y="6601968"/>
            <a:ext cx="5943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H4L Inc. | People Analytics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11185855" y="660196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cap="flat" cmpd="sng" w="12700">
            <a:solidFill>
              <a:srgbClr val="0B1F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Culture Signals: “Work-hard” vs “Play-hard”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548640" y="457200"/>
            <a:ext cx="1109441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7E3F4"/>
                </a:solidFill>
                <a:latin typeface="Calibri"/>
                <a:ea typeface="Calibri"/>
                <a:cs typeface="Calibri"/>
                <a:sym typeface="Calibri"/>
              </a:rPr>
              <a:t>Engagement is strong, but norms around recovery time (PTO) appear weak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548640" y="960120"/>
            <a:ext cx="6126480" cy="5303520"/>
          </a:xfrm>
          <a:prstGeom prst="roundRect">
            <a:avLst>
              <a:gd fmla="val 9278" name="adj"/>
            </a:avLst>
          </a:prstGeom>
          <a:solidFill>
            <a:srgbClr val="FFFFFF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3970">
              <a:srgbClr val="000000">
                <a:alpha val="9804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822960" y="1151562"/>
            <a:ext cx="5577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Favourable survey results (4–5)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4" name="Google Shape;134;p6"/>
          <p:cNvGraphicFramePr/>
          <p:nvPr/>
        </p:nvGraphicFramePr>
        <p:xfrm>
          <a:off x="822960" y="1489890"/>
          <a:ext cx="5577840" cy="3795342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35" name="Google Shape;135;p6"/>
          <p:cNvSpPr/>
          <p:nvPr/>
        </p:nvSpPr>
        <p:spPr>
          <a:xfrm>
            <a:off x="822960" y="5399898"/>
            <a:ext cx="5577840" cy="594360"/>
          </a:xfrm>
          <a:prstGeom prst="roundRect">
            <a:avLst>
              <a:gd fmla="val 16667" name="adj"/>
            </a:avLst>
          </a:prstGeom>
          <a:solidFill>
            <a:srgbClr val="FFF5F5"/>
          </a:solidFill>
          <a:ln cap="flat" cmpd="sng" w="12700">
            <a:solidFill>
              <a:srgbClr val="FED7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1051560" y="5527914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303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53030"/>
                </a:solidFill>
                <a:latin typeface="Calibri"/>
                <a:ea typeface="Calibri"/>
                <a:cs typeface="Calibri"/>
                <a:sym typeface="Calibri"/>
              </a:rPr>
              <a:t>Interpretation: the work is engaging, but recovery is not normalized.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6949440" y="960120"/>
            <a:ext cx="4693615" cy="5303520"/>
          </a:xfrm>
          <a:prstGeom prst="roundRect">
            <a:avLst>
              <a:gd fmla="val 9555" name="adj"/>
            </a:avLst>
          </a:prstGeom>
          <a:solidFill>
            <a:srgbClr val="FFFFFF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3970">
              <a:srgbClr val="000000">
                <a:alpha val="9804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7223760" y="1151562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Where “play-hard” is weakest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9" name="Google Shape;139;p6"/>
          <p:cNvGraphicFramePr/>
          <p:nvPr/>
        </p:nvGraphicFramePr>
        <p:xfrm>
          <a:off x="7223760" y="1489890"/>
          <a:ext cx="4145280" cy="310896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40" name="Google Shape;140;p6"/>
          <p:cNvSpPr/>
          <p:nvPr/>
        </p:nvSpPr>
        <p:spPr>
          <a:xfrm>
            <a:off x="7223760" y="4532814"/>
            <a:ext cx="41452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Signals to watch</a:t>
            </a:r>
            <a:br>
              <a:rPr b="1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Halifax has the lowest PTO comfort (20% favourable) while also showing the highest average pay.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Culture alignment is low overall (~31% favourable) — a risk for longer-term retention.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Priority: create consistent norms, not just policies (leaders model PTO, managers protect capacity).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cap="flat" cmpd="sng" w="12700">
            <a:solidFill>
              <a:srgbClr val="F3F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548640" y="6601968"/>
            <a:ext cx="5943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H4L Inc. | People Analytics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11185855" y="660196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cap="flat" cmpd="sng" w="12700">
            <a:solidFill>
              <a:srgbClr val="0B1F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Actions Leaders Will Buy Into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548640" y="457200"/>
            <a:ext cx="1109441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7E3F4"/>
                </a:solidFill>
                <a:latin typeface="Calibri"/>
                <a:ea typeface="Calibri"/>
                <a:cs typeface="Calibri"/>
                <a:sym typeface="Calibri"/>
              </a:rPr>
              <a:t>A practical 90-day plan to reduce risk, improve signal quality, and strengthen “play-hard”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548640" y="960120"/>
            <a:ext cx="11094415" cy="4882026"/>
          </a:xfrm>
          <a:prstGeom prst="roundRect">
            <a:avLst>
              <a:gd fmla="val 8338" name="adj"/>
            </a:avLst>
          </a:prstGeom>
          <a:solidFill>
            <a:srgbClr val="FFFFFF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3970">
              <a:srgbClr val="000000">
                <a:alpha val="9804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868680" y="107899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90-day roadmap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4" name="Google Shape;154;p7"/>
          <p:cNvGrpSpPr/>
          <p:nvPr/>
        </p:nvGrpSpPr>
        <p:grpSpPr>
          <a:xfrm>
            <a:off x="868680" y="1508760"/>
            <a:ext cx="10454335" cy="1298448"/>
            <a:chOff x="868680" y="1508760"/>
            <a:chExt cx="10454335" cy="1417320"/>
          </a:xfrm>
        </p:grpSpPr>
        <p:sp>
          <p:nvSpPr>
            <p:cNvPr id="155" name="Google Shape;155;p7"/>
            <p:cNvSpPr/>
            <p:nvPr/>
          </p:nvSpPr>
          <p:spPr>
            <a:xfrm>
              <a:off x="868680" y="1508760"/>
              <a:ext cx="10454335" cy="1417320"/>
            </a:xfrm>
            <a:prstGeom prst="roundRect">
              <a:avLst>
                <a:gd fmla="val 16667" name="adj"/>
              </a:avLst>
            </a:prstGeom>
            <a:solidFill>
              <a:srgbClr val="F8FAFC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7"/>
            <p:cNvSpPr/>
            <p:nvPr/>
          </p:nvSpPr>
          <p:spPr>
            <a:xfrm>
              <a:off x="868680" y="1508760"/>
              <a:ext cx="91440" cy="1417320"/>
            </a:xfrm>
            <a:prstGeom prst="rect">
              <a:avLst/>
            </a:prstGeom>
            <a:solidFill>
              <a:srgbClr val="00A6A6"/>
            </a:solidFill>
            <a:ln cap="flat" cmpd="sng" w="12700">
              <a:solidFill>
                <a:srgbClr val="00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7"/>
            <p:cNvSpPr/>
            <p:nvPr/>
          </p:nvSpPr>
          <p:spPr>
            <a:xfrm>
              <a:off x="1051560" y="1645920"/>
              <a:ext cx="100885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1F3B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0B1F3B"/>
                  </a:solidFill>
                  <a:latin typeface="Calibri"/>
                  <a:ea typeface="Calibri"/>
                  <a:cs typeface="Calibri"/>
                  <a:sym typeface="Calibri"/>
                </a:rPr>
                <a:t>Compensation governance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7"/>
            <p:cNvSpPr/>
            <p:nvPr/>
          </p:nvSpPr>
          <p:spPr>
            <a:xfrm>
              <a:off x="1188720" y="1947672"/>
              <a:ext cx="9814255" cy="960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28600" lvl="0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Char char="•"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Audit salary bands by level × office; document market exceptions.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0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Char char="•"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Identify outliers (e.g., Halifax IC/Manager) and correct with a phased plan.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0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Char char="•"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Create a simple “offer + promotion” guardrail checklist for HR/Managers.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" name="Google Shape;159;p7"/>
          <p:cNvGrpSpPr/>
          <p:nvPr/>
        </p:nvGrpSpPr>
        <p:grpSpPr>
          <a:xfrm>
            <a:off x="868680" y="2939796"/>
            <a:ext cx="10454335" cy="1298448"/>
            <a:chOff x="868680" y="3154680"/>
            <a:chExt cx="10454335" cy="1417320"/>
          </a:xfrm>
        </p:grpSpPr>
        <p:sp>
          <p:nvSpPr>
            <p:cNvPr id="160" name="Google Shape;160;p7"/>
            <p:cNvSpPr/>
            <p:nvPr/>
          </p:nvSpPr>
          <p:spPr>
            <a:xfrm>
              <a:off x="868680" y="3154680"/>
              <a:ext cx="10454335" cy="1417320"/>
            </a:xfrm>
            <a:prstGeom prst="roundRect">
              <a:avLst>
                <a:gd fmla="val 16667" name="adj"/>
              </a:avLst>
            </a:prstGeom>
            <a:solidFill>
              <a:srgbClr val="F8FAFC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7"/>
            <p:cNvSpPr/>
            <p:nvPr/>
          </p:nvSpPr>
          <p:spPr>
            <a:xfrm>
              <a:off x="868680" y="3154680"/>
              <a:ext cx="91440" cy="1417320"/>
            </a:xfrm>
            <a:prstGeom prst="rect">
              <a:avLst/>
            </a:prstGeom>
            <a:solidFill>
              <a:srgbClr val="2B6CB0"/>
            </a:solidFill>
            <a:ln cap="flat" cmpd="sng" w="12700">
              <a:solidFill>
                <a:srgbClr val="2B6CB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7"/>
            <p:cNvSpPr/>
            <p:nvPr/>
          </p:nvSpPr>
          <p:spPr>
            <a:xfrm>
              <a:off x="1051560" y="3291840"/>
              <a:ext cx="100885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1F3B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0B1F3B"/>
                  </a:solidFill>
                  <a:latin typeface="Calibri"/>
                  <a:ea typeface="Calibri"/>
                  <a:cs typeface="Calibri"/>
                  <a:sym typeface="Calibri"/>
                </a:rPr>
                <a:t>Performance credibility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7"/>
            <p:cNvSpPr/>
            <p:nvPr/>
          </p:nvSpPr>
          <p:spPr>
            <a:xfrm>
              <a:off x="1188720" y="3593592"/>
              <a:ext cx="9814255" cy="960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28600" lvl="0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Char char="•"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Run calibration sessions to reduce rating inflation and improve consistency.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0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Char char="•"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Manager enablement: expectations, coaching, and examples per rating level.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0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Char char="•"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Focus on Technology &amp; Customer Service: coaching plans + targeted L&amp;D.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4" name="Google Shape;164;p7"/>
          <p:cNvGrpSpPr/>
          <p:nvPr/>
        </p:nvGrpSpPr>
        <p:grpSpPr>
          <a:xfrm>
            <a:off x="868680" y="4370832"/>
            <a:ext cx="10454335" cy="1298448"/>
            <a:chOff x="868680" y="4800600"/>
            <a:chExt cx="10454335" cy="1417320"/>
          </a:xfrm>
        </p:grpSpPr>
        <p:sp>
          <p:nvSpPr>
            <p:cNvPr id="165" name="Google Shape;165;p7"/>
            <p:cNvSpPr/>
            <p:nvPr/>
          </p:nvSpPr>
          <p:spPr>
            <a:xfrm>
              <a:off x="868680" y="4800600"/>
              <a:ext cx="10454335" cy="1417320"/>
            </a:xfrm>
            <a:prstGeom prst="roundRect">
              <a:avLst>
                <a:gd fmla="val 16667" name="adj"/>
              </a:avLst>
            </a:prstGeom>
            <a:solidFill>
              <a:srgbClr val="F8FAFC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7"/>
            <p:cNvSpPr/>
            <p:nvPr/>
          </p:nvSpPr>
          <p:spPr>
            <a:xfrm>
              <a:off x="868680" y="4800600"/>
              <a:ext cx="91440" cy="1417320"/>
            </a:xfrm>
            <a:prstGeom prst="rect">
              <a:avLst/>
            </a:prstGeom>
            <a:solidFill>
              <a:srgbClr val="C53030"/>
            </a:solidFill>
            <a:ln cap="flat" cmpd="sng" w="12700">
              <a:solidFill>
                <a:srgbClr val="C530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7"/>
            <p:cNvSpPr/>
            <p:nvPr/>
          </p:nvSpPr>
          <p:spPr>
            <a:xfrm>
              <a:off x="1051560" y="4937760"/>
              <a:ext cx="100885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1F3B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0B1F3B"/>
                  </a:solidFill>
                  <a:latin typeface="Calibri"/>
                  <a:ea typeface="Calibri"/>
                  <a:cs typeface="Calibri"/>
                  <a:sym typeface="Calibri"/>
                </a:rPr>
                <a:t>Operationalize “play-hard”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7"/>
            <p:cNvSpPr/>
            <p:nvPr/>
          </p:nvSpPr>
          <p:spPr>
            <a:xfrm>
              <a:off x="1188720" y="5239512"/>
              <a:ext cx="9814255" cy="960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28600" lvl="0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Char char="•"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Publish PTO norms: leaders model time off; avoid “hero” signaling.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0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Char char="•"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Workload guardrails: staffing review where PTO guilt is highest.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0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Char char="•"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Track 2 leading indicators quarterly: PTO comfort + culture alignment.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9" name="Google Shape;169;p7"/>
          <p:cNvGrpSpPr/>
          <p:nvPr/>
        </p:nvGrpSpPr>
        <p:grpSpPr>
          <a:xfrm>
            <a:off x="777240" y="6010365"/>
            <a:ext cx="10637215" cy="347472"/>
            <a:chOff x="777240" y="6126480"/>
            <a:chExt cx="10637215" cy="347472"/>
          </a:xfrm>
        </p:grpSpPr>
        <p:sp>
          <p:nvSpPr>
            <p:cNvPr id="170" name="Google Shape;170;p7"/>
            <p:cNvSpPr/>
            <p:nvPr/>
          </p:nvSpPr>
          <p:spPr>
            <a:xfrm>
              <a:off x="1052931" y="6126480"/>
              <a:ext cx="10085832" cy="347472"/>
            </a:xfrm>
            <a:prstGeom prst="roundRect">
              <a:avLst>
                <a:gd fmla="val 16667" name="adj"/>
              </a:avLst>
            </a:prstGeom>
            <a:solidFill>
              <a:srgbClr val="00A6A6"/>
            </a:solidFill>
            <a:ln cap="flat" cmpd="sng" w="12700">
              <a:solidFill>
                <a:srgbClr val="00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7"/>
            <p:cNvSpPr/>
            <p:nvPr/>
          </p:nvSpPr>
          <p:spPr>
            <a:xfrm>
              <a:off x="777240" y="6190488"/>
              <a:ext cx="106372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Success measures: pay outlier count ↓ | manager calibration completion ↑ | PTO comfort ↑ | culture alignment ↑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2" name="Google Shape;172;p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cap="flat" cmpd="sng" w="12700">
            <a:solidFill>
              <a:srgbClr val="F3F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548640" y="6601968"/>
            <a:ext cx="5943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H4L Inc. | People Analytics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11185855" y="660196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cap="flat" cmpd="sng" w="12700">
            <a:solidFill>
              <a:srgbClr val="0B1F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Appendix A1 — Data Sources &amp; Coverage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548640" y="457200"/>
            <a:ext cx="1109441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7E3F4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lang="en-US" sz="1200">
                <a:solidFill>
                  <a:srgbClr val="D7E3F4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1200" u="none" cap="none" strike="noStrike">
                <a:solidFill>
                  <a:srgbClr val="D7E3F4"/>
                </a:solidFill>
                <a:latin typeface="Calibri"/>
                <a:ea typeface="Calibri"/>
                <a:cs typeface="Calibri"/>
                <a:sym typeface="Calibri"/>
              </a:rPr>
              <a:t> analyzed (and what to keep in mind)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548640" y="960120"/>
            <a:ext cx="11094415" cy="5303520"/>
          </a:xfrm>
          <a:prstGeom prst="roundRect">
            <a:avLst>
              <a:gd fmla="val 9825" name="adj"/>
            </a:avLst>
          </a:prstGeom>
          <a:solidFill>
            <a:srgbClr val="FFFFFF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3970">
              <a:srgbClr val="000000">
                <a:alpha val="9804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4" name="Google Shape;184;p8"/>
          <p:cNvGrpSpPr/>
          <p:nvPr/>
        </p:nvGrpSpPr>
        <p:grpSpPr>
          <a:xfrm>
            <a:off x="6446520" y="1399576"/>
            <a:ext cx="4831080" cy="2194560"/>
            <a:chOff x="6446520" y="1325880"/>
            <a:chExt cx="5166360" cy="2194560"/>
          </a:xfrm>
        </p:grpSpPr>
        <p:sp>
          <p:nvSpPr>
            <p:cNvPr id="185" name="Google Shape;185;p8"/>
            <p:cNvSpPr/>
            <p:nvPr/>
          </p:nvSpPr>
          <p:spPr>
            <a:xfrm>
              <a:off x="6446520" y="1325880"/>
              <a:ext cx="2468880" cy="100584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2700">
              <a:solidFill>
                <a:srgbClr val="CBD5E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5400" rotWithShape="0" algn="bl" dir="2700000" dist="15240">
                <a:srgbClr val="000000">
                  <a:alpha val="11765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8"/>
            <p:cNvSpPr/>
            <p:nvPr/>
          </p:nvSpPr>
          <p:spPr>
            <a:xfrm>
              <a:off x="6446520" y="1325880"/>
              <a:ext cx="73152" cy="1005840"/>
            </a:xfrm>
            <a:prstGeom prst="rect">
              <a:avLst/>
            </a:prstGeom>
            <a:solidFill>
              <a:srgbClr val="00A6A6"/>
            </a:solidFill>
            <a:ln cap="flat" cmpd="sng" w="12700">
              <a:solidFill>
                <a:srgbClr val="00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8"/>
            <p:cNvSpPr/>
            <p:nvPr/>
          </p:nvSpPr>
          <p:spPr>
            <a:xfrm>
              <a:off x="6611112" y="1472184"/>
              <a:ext cx="21945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HRIS records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8"/>
            <p:cNvSpPr/>
            <p:nvPr/>
          </p:nvSpPr>
          <p:spPr>
            <a:xfrm>
              <a:off x="6611112" y="1709928"/>
              <a:ext cx="219456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1F3B"/>
                </a:buClr>
                <a:buSzPts val="2600"/>
                <a:buFont typeface="Calibri"/>
                <a:buNone/>
              </a:pPr>
              <a:r>
                <a:rPr b="1" i="0" lang="en-US" sz="2600" u="none" cap="none" strike="noStrike">
                  <a:solidFill>
                    <a:srgbClr val="0B1F3B"/>
                  </a:solidFill>
                  <a:latin typeface="Calibri"/>
                  <a:ea typeface="Calibri"/>
                  <a:cs typeface="Calibri"/>
                  <a:sym typeface="Calibri"/>
                </a:rPr>
                <a:t>1,142</a:t>
              </a:r>
              <a:endPara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8"/>
            <p:cNvSpPr/>
            <p:nvPr/>
          </p:nvSpPr>
          <p:spPr>
            <a:xfrm>
              <a:off x="9098280" y="1325880"/>
              <a:ext cx="2514600" cy="100584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2700">
              <a:solidFill>
                <a:srgbClr val="CBD5E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5400" rotWithShape="0" algn="bl" dir="2700000" dist="15240">
                <a:srgbClr val="000000">
                  <a:alpha val="11765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8"/>
            <p:cNvSpPr/>
            <p:nvPr/>
          </p:nvSpPr>
          <p:spPr>
            <a:xfrm>
              <a:off x="9098280" y="1325880"/>
              <a:ext cx="73152" cy="1005840"/>
            </a:xfrm>
            <a:prstGeom prst="rect">
              <a:avLst/>
            </a:prstGeom>
            <a:solidFill>
              <a:srgbClr val="2B6CB0"/>
            </a:solidFill>
            <a:ln cap="flat" cmpd="sng" w="12700">
              <a:solidFill>
                <a:srgbClr val="2B6CB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8"/>
            <p:cNvSpPr/>
            <p:nvPr/>
          </p:nvSpPr>
          <p:spPr>
            <a:xfrm>
              <a:off x="9262872" y="1472184"/>
              <a:ext cx="22402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Survey responses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8"/>
            <p:cNvSpPr/>
            <p:nvPr/>
          </p:nvSpPr>
          <p:spPr>
            <a:xfrm>
              <a:off x="9262872" y="1709928"/>
              <a:ext cx="224028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1F3B"/>
                </a:buClr>
                <a:buSzPts val="2600"/>
                <a:buFont typeface="Calibri"/>
                <a:buNone/>
              </a:pPr>
              <a:r>
                <a:rPr b="1" i="0" lang="en-US" sz="2600" u="none" cap="none" strike="noStrike">
                  <a:solidFill>
                    <a:srgbClr val="0B1F3B"/>
                  </a:solidFill>
                  <a:latin typeface="Calibri"/>
                  <a:ea typeface="Calibri"/>
                  <a:cs typeface="Calibri"/>
                  <a:sym typeface="Calibri"/>
                </a:rPr>
                <a:t>679</a:t>
              </a:r>
              <a:endPara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8"/>
            <p:cNvSpPr/>
            <p:nvPr/>
          </p:nvSpPr>
          <p:spPr>
            <a:xfrm>
              <a:off x="6446520" y="2514600"/>
              <a:ext cx="5166360" cy="100584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2700">
              <a:solidFill>
                <a:srgbClr val="CBD5E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5400" rotWithShape="0" algn="bl" dir="2700000" dist="15240">
                <a:srgbClr val="000000">
                  <a:alpha val="11765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8"/>
            <p:cNvSpPr/>
            <p:nvPr/>
          </p:nvSpPr>
          <p:spPr>
            <a:xfrm>
              <a:off x="6446520" y="2514600"/>
              <a:ext cx="73152" cy="1005840"/>
            </a:xfrm>
            <a:prstGeom prst="rect">
              <a:avLst/>
            </a:prstGeom>
            <a:solidFill>
              <a:srgbClr val="C53030"/>
            </a:solidFill>
            <a:ln cap="flat" cmpd="sng" w="12700">
              <a:solidFill>
                <a:srgbClr val="C530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8"/>
            <p:cNvSpPr/>
            <p:nvPr/>
          </p:nvSpPr>
          <p:spPr>
            <a:xfrm>
              <a:off x="6611112" y="2660904"/>
              <a:ext cx="48920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Join rate (Survey ↔ HRIS)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8"/>
            <p:cNvSpPr/>
            <p:nvPr/>
          </p:nvSpPr>
          <p:spPr>
            <a:xfrm>
              <a:off x="6611112" y="2898648"/>
              <a:ext cx="489204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1F3B"/>
                </a:buClr>
                <a:buSzPts val="2600"/>
                <a:buFont typeface="Calibri"/>
                <a:buNone/>
              </a:pPr>
              <a:r>
                <a:rPr b="1" i="0" lang="en-US" sz="2600" u="none" cap="none" strike="noStrike">
                  <a:solidFill>
                    <a:srgbClr val="0B1F3B"/>
                  </a:solidFill>
                  <a:latin typeface="Calibri"/>
                  <a:ea typeface="Calibri"/>
                  <a:cs typeface="Calibri"/>
                  <a:sym typeface="Calibri"/>
                </a:rPr>
                <a:t>59%</a:t>
              </a:r>
              <a:endPara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7" name="Google Shape;197;p8"/>
          <p:cNvSpPr/>
          <p:nvPr/>
        </p:nvSpPr>
        <p:spPr>
          <a:xfrm>
            <a:off x="914400" y="1234439"/>
            <a:ext cx="5040000" cy="330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Inputs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914400" y="1674806"/>
            <a:ext cx="5040000" cy="2422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HRIS extract (CompanyData)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Employee demographics, office, department, level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Compensation (salary, bonus %)</a:t>
            </a:r>
            <a:b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Performance score + TimeOff</a:t>
            </a:r>
            <a:b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Engagement survey (2023Q2)</a:t>
            </a:r>
            <a:b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5-point items on engagement, culture, PTO, fairness, retention intent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914400" y="3681932"/>
            <a:ext cx="5040000" cy="330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Notes / limitations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914400" y="4067252"/>
            <a:ext cx="5040000" cy="1651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Small office samples (Calgary, Halifax) → interpret office-level survey splits cautiously.</a:t>
            </a:r>
            <a:b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“Plan to stay” item contained an out-of-scale value (10) — treated as missing in survey analysis.</a:t>
            </a:r>
            <a:b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This phase focuses on descriptive + diagnostic analytics; causal claims require experiments or longitudinal tracking.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cap="flat" cmpd="sng" w="12700">
            <a:solidFill>
              <a:srgbClr val="F3F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548640" y="6601968"/>
            <a:ext cx="5943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H4L Inc. | People Analytics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11185855" y="660196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cap="flat" cmpd="sng" w="12700">
            <a:solidFill>
              <a:srgbClr val="0B1F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Appendix A2 — Data Cleaning &amp; Assumptions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548640" y="457200"/>
            <a:ext cx="1109441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7E3F4"/>
                </a:solidFill>
                <a:latin typeface="Calibri"/>
                <a:ea typeface="Calibri"/>
                <a:cs typeface="Calibri"/>
                <a:sym typeface="Calibri"/>
              </a:rPr>
              <a:t>Key steps used to structure the dataset for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548640" y="960120"/>
            <a:ext cx="11094415" cy="5303520"/>
          </a:xfrm>
          <a:prstGeom prst="roundRect">
            <a:avLst>
              <a:gd fmla="val 10373" name="adj"/>
            </a:avLst>
          </a:prstGeom>
          <a:solidFill>
            <a:srgbClr val="FFFFFF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3970">
              <a:srgbClr val="000000">
                <a:alpha val="9804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777240" y="1234440"/>
            <a:ext cx="5272888" cy="4846320"/>
          </a:xfrm>
          <a:prstGeom prst="roundRect">
            <a:avLst>
              <a:gd fmla="val 7982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960120" y="1489890"/>
            <a:ext cx="49071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HRIS (CompanyData)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960120" y="1828218"/>
            <a:ext cx="4907128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Validated key fields: Office, Department, Level, Salary, Performance_Score, TimeOff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Checked missingness + type issues (dates, numeric salary)</a:t>
            </a:r>
            <a:b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Ensured unique employee records by EmployeeID</a:t>
            </a:r>
            <a:b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Standardized labels (e.g., Performance_Score categories)</a:t>
            </a:r>
            <a:b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Created derived fields used in analysis (e.g., tenure, numeric performance mapping)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6141568" y="1234440"/>
            <a:ext cx="5272888" cy="4846320"/>
          </a:xfrm>
          <a:prstGeom prst="roundRect">
            <a:avLst>
              <a:gd fmla="val 10078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6324448" y="1489890"/>
            <a:ext cx="49071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Engagement Survey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6324448" y="1828218"/>
            <a:ext cx="4907128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Converted Likert responses to numeric; verified 1–5 scale</a:t>
            </a:r>
            <a:b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Flagged an out-of-scale value (10) in “Plan to stay 2+ years” and treated as missing</a:t>
            </a:r>
            <a:b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Computed “favourable” % (responses 4–5)</a:t>
            </a:r>
            <a:b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Created Engagement Index (mean across items) for optional diagnostics</a:t>
            </a:r>
            <a:b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Joined to HRIS via EmployeeID (left join; join rate ≈59%)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cap="flat" cmpd="sng" w="12700">
            <a:solidFill>
              <a:srgbClr val="F3F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548640" y="6601968"/>
            <a:ext cx="5943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H4L Inc. | People Analytics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11185855" y="660196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cap="flat" cmpd="sng" w="12700">
            <a:solidFill>
              <a:srgbClr val="0B1F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Appendix A3 — Hypotheses &amp; Methods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548640" y="457200"/>
            <a:ext cx="1109441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7E3F4"/>
                </a:solidFill>
                <a:latin typeface="Calibri"/>
                <a:ea typeface="Calibri"/>
                <a:cs typeface="Calibri"/>
                <a:sym typeface="Calibri"/>
              </a:rPr>
              <a:t>How the analytics toolkit was applied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548640" y="960120"/>
            <a:ext cx="11094415" cy="5303520"/>
          </a:xfrm>
          <a:prstGeom prst="roundRect">
            <a:avLst>
              <a:gd fmla="val 9004" name="adj"/>
            </a:avLst>
          </a:prstGeom>
          <a:solidFill>
            <a:srgbClr val="FFFFFF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3970">
              <a:srgbClr val="000000">
                <a:alpha val="9804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868680" y="11430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People Analytics Toolkit (used here)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2" name="Google Shape;232;p10"/>
          <p:cNvGrpSpPr/>
          <p:nvPr/>
        </p:nvGrpSpPr>
        <p:grpSpPr>
          <a:xfrm>
            <a:off x="868679" y="1636746"/>
            <a:ext cx="2470467" cy="1143000"/>
            <a:chOff x="868680" y="1572768"/>
            <a:chExt cx="1737360" cy="1143000"/>
          </a:xfrm>
        </p:grpSpPr>
        <p:sp>
          <p:nvSpPr>
            <p:cNvPr id="233" name="Google Shape;233;p10"/>
            <p:cNvSpPr/>
            <p:nvPr/>
          </p:nvSpPr>
          <p:spPr>
            <a:xfrm>
              <a:off x="868680" y="1572768"/>
              <a:ext cx="1709928" cy="1143000"/>
            </a:xfrm>
            <a:prstGeom prst="roundRect">
              <a:avLst>
                <a:gd fmla="val 16667" name="adj"/>
              </a:avLst>
            </a:prstGeom>
            <a:solidFill>
              <a:srgbClr val="F8FAFC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0"/>
            <p:cNvSpPr/>
            <p:nvPr/>
          </p:nvSpPr>
          <p:spPr>
            <a:xfrm>
              <a:off x="1371600" y="1719072"/>
              <a:ext cx="12344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1F3B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0B1F3B"/>
                  </a:solidFill>
                  <a:latin typeface="Calibri"/>
                  <a:ea typeface="Calibri"/>
                  <a:cs typeface="Calibri"/>
                  <a:sym typeface="Calibri"/>
                </a:rPr>
                <a:t>Identify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10"/>
            <p:cNvSpPr/>
            <p:nvPr/>
          </p:nvSpPr>
          <p:spPr>
            <a:xfrm>
              <a:off x="1371600" y="2029968"/>
              <a:ext cx="123444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100"/>
                <a:buFont typeface="Calibri"/>
                <a:buNone/>
              </a:pPr>
              <a:r>
                <a:rPr b="0" i="0" lang="en-US" sz="11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Frame the business question + hypotheses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6" name="Google Shape;236;p10"/>
          <p:cNvGrpSpPr/>
          <p:nvPr/>
        </p:nvGrpSpPr>
        <p:grpSpPr>
          <a:xfrm>
            <a:off x="3534182" y="1636746"/>
            <a:ext cx="2470467" cy="1143000"/>
            <a:chOff x="2743200" y="1572768"/>
            <a:chExt cx="1737360" cy="1143000"/>
          </a:xfrm>
        </p:grpSpPr>
        <p:sp>
          <p:nvSpPr>
            <p:cNvPr id="237" name="Google Shape;237;p10"/>
            <p:cNvSpPr/>
            <p:nvPr/>
          </p:nvSpPr>
          <p:spPr>
            <a:xfrm>
              <a:off x="2743200" y="1572768"/>
              <a:ext cx="1709928" cy="1143000"/>
            </a:xfrm>
            <a:prstGeom prst="roundRect">
              <a:avLst>
                <a:gd fmla="val 16667" name="adj"/>
              </a:avLst>
            </a:prstGeom>
            <a:solidFill>
              <a:srgbClr val="F8FAFC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10"/>
            <p:cNvSpPr/>
            <p:nvPr/>
          </p:nvSpPr>
          <p:spPr>
            <a:xfrm>
              <a:off x="3246120" y="1719072"/>
              <a:ext cx="12344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1F3B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0B1F3B"/>
                  </a:solidFill>
                  <a:latin typeface="Calibri"/>
                  <a:ea typeface="Calibri"/>
                  <a:cs typeface="Calibri"/>
                  <a:sym typeface="Calibri"/>
                </a:rPr>
                <a:t>Evaluate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0"/>
            <p:cNvSpPr/>
            <p:nvPr/>
          </p:nvSpPr>
          <p:spPr>
            <a:xfrm>
              <a:off x="3246120" y="2029968"/>
              <a:ext cx="123444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100"/>
                <a:buFont typeface="Calibri"/>
                <a:buNone/>
              </a:pPr>
              <a:r>
                <a:rPr b="0" i="0" lang="en-US" sz="11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Describe patterns (pivots, distributions, cross-tabs)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0" name="Google Shape;240;p10"/>
          <p:cNvGrpSpPr/>
          <p:nvPr/>
        </p:nvGrpSpPr>
        <p:grpSpPr>
          <a:xfrm>
            <a:off x="6199686" y="1636746"/>
            <a:ext cx="2470467" cy="1143000"/>
            <a:chOff x="4617720" y="1572768"/>
            <a:chExt cx="1737360" cy="1143000"/>
          </a:xfrm>
        </p:grpSpPr>
        <p:sp>
          <p:nvSpPr>
            <p:cNvPr id="241" name="Google Shape;241;p10"/>
            <p:cNvSpPr/>
            <p:nvPr/>
          </p:nvSpPr>
          <p:spPr>
            <a:xfrm>
              <a:off x="4617720" y="1572768"/>
              <a:ext cx="1709928" cy="1143000"/>
            </a:xfrm>
            <a:prstGeom prst="roundRect">
              <a:avLst>
                <a:gd fmla="val 16667" name="adj"/>
              </a:avLst>
            </a:prstGeom>
            <a:solidFill>
              <a:srgbClr val="F8FAFC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10"/>
            <p:cNvSpPr/>
            <p:nvPr/>
          </p:nvSpPr>
          <p:spPr>
            <a:xfrm>
              <a:off x="5120640" y="1719072"/>
              <a:ext cx="12344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1F3B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0B1F3B"/>
                  </a:solidFill>
                  <a:latin typeface="Calibri"/>
                  <a:ea typeface="Calibri"/>
                  <a:cs typeface="Calibri"/>
                  <a:sym typeface="Calibri"/>
                </a:rPr>
                <a:t>Diagnose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0"/>
            <p:cNvSpPr/>
            <p:nvPr/>
          </p:nvSpPr>
          <p:spPr>
            <a:xfrm>
              <a:off x="5120640" y="2029968"/>
              <a:ext cx="123444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100"/>
                <a:buFont typeface="Calibri"/>
                <a:buNone/>
              </a:pPr>
              <a:r>
                <a:rPr b="0" i="0" lang="en-US" sz="11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Locate hotspots and likely drivers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4" name="Google Shape;244;p10"/>
          <p:cNvGrpSpPr/>
          <p:nvPr/>
        </p:nvGrpSpPr>
        <p:grpSpPr>
          <a:xfrm>
            <a:off x="8865189" y="1636746"/>
            <a:ext cx="2470467" cy="1143000"/>
            <a:chOff x="6492240" y="1572768"/>
            <a:chExt cx="1737360" cy="1143000"/>
          </a:xfrm>
        </p:grpSpPr>
        <p:sp>
          <p:nvSpPr>
            <p:cNvPr id="245" name="Google Shape;245;p10"/>
            <p:cNvSpPr/>
            <p:nvPr/>
          </p:nvSpPr>
          <p:spPr>
            <a:xfrm>
              <a:off x="6492240" y="1572768"/>
              <a:ext cx="1709928" cy="1143000"/>
            </a:xfrm>
            <a:prstGeom prst="roundRect">
              <a:avLst>
                <a:gd fmla="val 16667" name="adj"/>
              </a:avLst>
            </a:prstGeom>
            <a:solidFill>
              <a:srgbClr val="F8FAFC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0"/>
            <p:cNvSpPr/>
            <p:nvPr/>
          </p:nvSpPr>
          <p:spPr>
            <a:xfrm>
              <a:off x="6995160" y="1719072"/>
              <a:ext cx="12344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1F3B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0B1F3B"/>
                  </a:solidFill>
                  <a:latin typeface="Calibri"/>
                  <a:ea typeface="Calibri"/>
                  <a:cs typeface="Calibri"/>
                  <a:sym typeface="Calibri"/>
                </a:rPr>
                <a:t>Prescribe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0"/>
            <p:cNvSpPr/>
            <p:nvPr/>
          </p:nvSpPr>
          <p:spPr>
            <a:xfrm>
              <a:off x="6995160" y="2029968"/>
              <a:ext cx="123444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100"/>
                <a:buFont typeface="Calibri"/>
                <a:buNone/>
              </a:pPr>
              <a:r>
                <a:rPr b="0" i="0" lang="en-US" sz="11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Recommend actions with measurable success criteria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8" name="Google Shape;248;p10"/>
          <p:cNvSpPr/>
          <p:nvPr/>
        </p:nvSpPr>
        <p:spPr>
          <a:xfrm>
            <a:off x="868680" y="2971147"/>
            <a:ext cx="10466977" cy="3041469"/>
          </a:xfrm>
          <a:prstGeom prst="roundRect">
            <a:avLst>
              <a:gd fmla="val 11895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1426491" y="3123313"/>
            <a:ext cx="8622737" cy="173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Hypotheses tested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1426491" y="3297019"/>
            <a:ext cx="8622737" cy="8961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H1: Halifax pay is higher within the same level (band inconsistency).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H2: Department performance distributions differ (hotspots in Tech/CS).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H3: “Play-hard” is present when employees feel comfortable taking PTO (survey) — and should align with TimeOff behaviour.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1426491" y="4318176"/>
            <a:ext cx="8622737" cy="173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Methods used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1426491" y="4491882"/>
            <a:ext cx="8622737" cy="868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Pivot tables &amp; cross-tabs</a:t>
            </a:r>
            <a:b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Within-level pay comparisons</a:t>
            </a:r>
            <a:b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Distribution checks (rating compression)</a:t>
            </a:r>
            <a:b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Survey “favourable” rates (4–5)</a:t>
            </a:r>
            <a:b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Optional correlations for directional insight (not causal)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cap="flat" cmpd="sng" w="12700">
            <a:solidFill>
              <a:srgbClr val="F3F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548640" y="6601968"/>
            <a:ext cx="5943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H4L Inc. | People Analytics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11185855" y="660196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6" name="Google Shape;256;p10"/>
          <p:cNvGrpSpPr/>
          <p:nvPr/>
        </p:nvGrpSpPr>
        <p:grpSpPr>
          <a:xfrm>
            <a:off x="1138062" y="1766388"/>
            <a:ext cx="329184" cy="338328"/>
            <a:chOff x="1138062" y="1751874"/>
            <a:chExt cx="329184" cy="338328"/>
          </a:xfrm>
        </p:grpSpPr>
        <p:sp>
          <p:nvSpPr>
            <p:cNvPr id="257" name="Google Shape;257;p10"/>
            <p:cNvSpPr/>
            <p:nvPr/>
          </p:nvSpPr>
          <p:spPr>
            <a:xfrm>
              <a:off x="1138062" y="1751874"/>
              <a:ext cx="329184" cy="329184"/>
            </a:xfrm>
            <a:prstGeom prst="ellipse">
              <a:avLst/>
            </a:prstGeom>
            <a:solidFill>
              <a:srgbClr val="00A6A6"/>
            </a:solidFill>
            <a:ln cap="flat" cmpd="sng" w="12700">
              <a:solidFill>
                <a:srgbClr val="00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10"/>
            <p:cNvSpPr/>
            <p:nvPr/>
          </p:nvSpPr>
          <p:spPr>
            <a:xfrm>
              <a:off x="1138062" y="1761018"/>
              <a:ext cx="329184" cy="329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9" name="Google Shape;259;p10"/>
          <p:cNvGrpSpPr/>
          <p:nvPr/>
        </p:nvGrpSpPr>
        <p:grpSpPr>
          <a:xfrm>
            <a:off x="3794819" y="1766388"/>
            <a:ext cx="329184" cy="338328"/>
            <a:chOff x="3012582" y="1751874"/>
            <a:chExt cx="329184" cy="338328"/>
          </a:xfrm>
        </p:grpSpPr>
        <p:sp>
          <p:nvSpPr>
            <p:cNvPr id="260" name="Google Shape;260;p10"/>
            <p:cNvSpPr/>
            <p:nvPr/>
          </p:nvSpPr>
          <p:spPr>
            <a:xfrm>
              <a:off x="3012582" y="1751874"/>
              <a:ext cx="329184" cy="329184"/>
            </a:xfrm>
            <a:prstGeom prst="ellipse">
              <a:avLst/>
            </a:prstGeom>
            <a:solidFill>
              <a:srgbClr val="00A6A6"/>
            </a:solidFill>
            <a:ln cap="flat" cmpd="sng" w="12700">
              <a:solidFill>
                <a:srgbClr val="00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10"/>
            <p:cNvSpPr/>
            <p:nvPr/>
          </p:nvSpPr>
          <p:spPr>
            <a:xfrm>
              <a:off x="3012582" y="1761018"/>
              <a:ext cx="329184" cy="329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2" name="Google Shape;262;p10"/>
          <p:cNvGrpSpPr/>
          <p:nvPr/>
        </p:nvGrpSpPr>
        <p:grpSpPr>
          <a:xfrm>
            <a:off x="6451576" y="1766388"/>
            <a:ext cx="329184" cy="338328"/>
            <a:chOff x="4887102" y="1751874"/>
            <a:chExt cx="329184" cy="338328"/>
          </a:xfrm>
        </p:grpSpPr>
        <p:sp>
          <p:nvSpPr>
            <p:cNvPr id="263" name="Google Shape;263;p10"/>
            <p:cNvSpPr/>
            <p:nvPr/>
          </p:nvSpPr>
          <p:spPr>
            <a:xfrm>
              <a:off x="4887102" y="1751874"/>
              <a:ext cx="329184" cy="329184"/>
            </a:xfrm>
            <a:prstGeom prst="ellipse">
              <a:avLst/>
            </a:prstGeom>
            <a:solidFill>
              <a:srgbClr val="00A6A6"/>
            </a:solidFill>
            <a:ln cap="flat" cmpd="sng" w="12700">
              <a:solidFill>
                <a:srgbClr val="00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10"/>
            <p:cNvSpPr/>
            <p:nvPr/>
          </p:nvSpPr>
          <p:spPr>
            <a:xfrm>
              <a:off x="4887102" y="1761018"/>
              <a:ext cx="329184" cy="329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5" name="Google Shape;265;p10"/>
          <p:cNvGrpSpPr/>
          <p:nvPr/>
        </p:nvGrpSpPr>
        <p:grpSpPr>
          <a:xfrm>
            <a:off x="9108333" y="1766388"/>
            <a:ext cx="329184" cy="338328"/>
            <a:chOff x="6761622" y="1751874"/>
            <a:chExt cx="329184" cy="338328"/>
          </a:xfrm>
        </p:grpSpPr>
        <p:sp>
          <p:nvSpPr>
            <p:cNvPr id="266" name="Google Shape;266;p10"/>
            <p:cNvSpPr/>
            <p:nvPr/>
          </p:nvSpPr>
          <p:spPr>
            <a:xfrm>
              <a:off x="6761622" y="1751874"/>
              <a:ext cx="329184" cy="329184"/>
            </a:xfrm>
            <a:prstGeom prst="ellipse">
              <a:avLst/>
            </a:prstGeom>
            <a:solidFill>
              <a:srgbClr val="00A6A6"/>
            </a:solidFill>
            <a:ln cap="flat" cmpd="sng" w="12700">
              <a:solidFill>
                <a:srgbClr val="00A6A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10"/>
            <p:cNvSpPr/>
            <p:nvPr/>
          </p:nvSpPr>
          <p:spPr>
            <a:xfrm>
              <a:off x="6761622" y="1761018"/>
              <a:ext cx="329184" cy="329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cap="flat" cmpd="sng" w="12700">
            <a:solidFill>
              <a:srgbClr val="0B1F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Appendix A4 — Salary Detail (Within Level)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548640" y="457200"/>
            <a:ext cx="1109441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7E3F4"/>
                </a:solidFill>
                <a:latin typeface="Calibri"/>
                <a:ea typeface="Calibri"/>
                <a:cs typeface="Calibri"/>
                <a:sym typeface="Calibri"/>
              </a:rPr>
              <a:t>Average salary by office for key levels (CAD)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548640" y="960120"/>
            <a:ext cx="11094415" cy="5303520"/>
          </a:xfrm>
          <a:prstGeom prst="roundRect">
            <a:avLst>
              <a:gd fmla="val 10099" name="adj"/>
            </a:avLst>
          </a:prstGeom>
          <a:solidFill>
            <a:srgbClr val="FFFFFF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3970">
              <a:srgbClr val="000000">
                <a:alpha val="9804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7" name="Google Shape;277;p11"/>
          <p:cNvGrpSpPr/>
          <p:nvPr/>
        </p:nvGrpSpPr>
        <p:grpSpPr>
          <a:xfrm>
            <a:off x="1005840" y="1301207"/>
            <a:ext cx="10180015" cy="1417320"/>
            <a:chOff x="1005840" y="1417320"/>
            <a:chExt cx="10180015" cy="1417320"/>
          </a:xfrm>
        </p:grpSpPr>
        <p:sp>
          <p:nvSpPr>
            <p:cNvPr id="278" name="Google Shape;278;p11"/>
            <p:cNvSpPr/>
            <p:nvPr/>
          </p:nvSpPr>
          <p:spPr>
            <a:xfrm>
              <a:off x="1005840" y="1417320"/>
              <a:ext cx="10180015" cy="411480"/>
            </a:xfrm>
            <a:prstGeom prst="rect">
              <a:avLst/>
            </a:prstGeom>
            <a:solidFill>
              <a:srgbClr val="0B1F3B"/>
            </a:solidFill>
            <a:ln cap="flat" cmpd="sng" w="12700">
              <a:solidFill>
                <a:srgbClr val="0B1F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11"/>
            <p:cNvSpPr/>
            <p:nvPr/>
          </p:nvSpPr>
          <p:spPr>
            <a:xfrm>
              <a:off x="1097280" y="1508760"/>
              <a:ext cx="20116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Level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11"/>
            <p:cNvSpPr/>
            <p:nvPr/>
          </p:nvSpPr>
          <p:spPr>
            <a:xfrm>
              <a:off x="3154680" y="1508760"/>
              <a:ext cx="1606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Toronto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11"/>
            <p:cNvSpPr/>
            <p:nvPr/>
          </p:nvSpPr>
          <p:spPr>
            <a:xfrm>
              <a:off x="4760915" y="1508760"/>
              <a:ext cx="1606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Montreal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11"/>
            <p:cNvSpPr/>
            <p:nvPr/>
          </p:nvSpPr>
          <p:spPr>
            <a:xfrm>
              <a:off x="6367150" y="1508760"/>
              <a:ext cx="1606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Vancouver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11"/>
            <p:cNvSpPr/>
            <p:nvPr/>
          </p:nvSpPr>
          <p:spPr>
            <a:xfrm>
              <a:off x="7973385" y="1508760"/>
              <a:ext cx="1606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Calgary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11"/>
            <p:cNvSpPr/>
            <p:nvPr/>
          </p:nvSpPr>
          <p:spPr>
            <a:xfrm>
              <a:off x="9579620" y="1508760"/>
              <a:ext cx="1606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Halifax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11"/>
            <p:cNvSpPr/>
            <p:nvPr/>
          </p:nvSpPr>
          <p:spPr>
            <a:xfrm>
              <a:off x="1005840" y="1828800"/>
              <a:ext cx="10180015" cy="502920"/>
            </a:xfrm>
            <a:prstGeom prst="rect">
              <a:avLst/>
            </a:prstGeom>
            <a:solidFill>
              <a:srgbClr val="F8FAFC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11"/>
            <p:cNvSpPr/>
            <p:nvPr/>
          </p:nvSpPr>
          <p:spPr>
            <a:xfrm>
              <a:off x="1097280" y="1975104"/>
              <a:ext cx="20116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Individual Contributor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11"/>
            <p:cNvSpPr/>
            <p:nvPr/>
          </p:nvSpPr>
          <p:spPr>
            <a:xfrm>
              <a:off x="3154680" y="1975104"/>
              <a:ext cx="1606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$65k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11"/>
            <p:cNvSpPr/>
            <p:nvPr/>
          </p:nvSpPr>
          <p:spPr>
            <a:xfrm>
              <a:off x="4760915" y="1975104"/>
              <a:ext cx="1606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$63k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11"/>
            <p:cNvSpPr/>
            <p:nvPr/>
          </p:nvSpPr>
          <p:spPr>
            <a:xfrm>
              <a:off x="6367150" y="1975104"/>
              <a:ext cx="1606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$90k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11"/>
            <p:cNvSpPr/>
            <p:nvPr/>
          </p:nvSpPr>
          <p:spPr>
            <a:xfrm>
              <a:off x="7973385" y="1975104"/>
              <a:ext cx="1606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$76k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11"/>
            <p:cNvSpPr/>
            <p:nvPr/>
          </p:nvSpPr>
          <p:spPr>
            <a:xfrm>
              <a:off x="9579620" y="1975104"/>
              <a:ext cx="1606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53030"/>
                </a:buClr>
                <a:buSzPts val="1200"/>
                <a:buFont typeface="Calibri"/>
                <a:buNone/>
              </a:pPr>
              <a:r>
                <a:rPr b="1" i="0" lang="en-US" sz="1200" u="none" cap="none" strike="noStrike">
                  <a:solidFill>
                    <a:srgbClr val="C53030"/>
                  </a:solidFill>
                  <a:latin typeface="Calibri"/>
                  <a:ea typeface="Calibri"/>
                  <a:cs typeface="Calibri"/>
                  <a:sym typeface="Calibri"/>
                </a:rPr>
                <a:t>$99k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11"/>
            <p:cNvSpPr/>
            <p:nvPr/>
          </p:nvSpPr>
          <p:spPr>
            <a:xfrm>
              <a:off x="1005840" y="2331720"/>
              <a:ext cx="10180015" cy="50292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11"/>
            <p:cNvSpPr/>
            <p:nvPr/>
          </p:nvSpPr>
          <p:spPr>
            <a:xfrm>
              <a:off x="1097280" y="2478024"/>
              <a:ext cx="20116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Manager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11"/>
            <p:cNvSpPr/>
            <p:nvPr/>
          </p:nvSpPr>
          <p:spPr>
            <a:xfrm>
              <a:off x="3154680" y="2478024"/>
              <a:ext cx="1606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$78k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1"/>
            <p:cNvSpPr/>
            <p:nvPr/>
          </p:nvSpPr>
          <p:spPr>
            <a:xfrm>
              <a:off x="4760915" y="2478024"/>
              <a:ext cx="1606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$77k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11"/>
            <p:cNvSpPr/>
            <p:nvPr/>
          </p:nvSpPr>
          <p:spPr>
            <a:xfrm>
              <a:off x="6367150" y="2478024"/>
              <a:ext cx="1606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$95k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1"/>
            <p:cNvSpPr/>
            <p:nvPr/>
          </p:nvSpPr>
          <p:spPr>
            <a:xfrm>
              <a:off x="7973385" y="2478024"/>
              <a:ext cx="1606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3748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2D3748"/>
                  </a:solidFill>
                  <a:latin typeface="Calibri"/>
                  <a:ea typeface="Calibri"/>
                  <a:cs typeface="Calibri"/>
                  <a:sym typeface="Calibri"/>
                </a:rPr>
                <a:t>$102k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1"/>
            <p:cNvSpPr/>
            <p:nvPr/>
          </p:nvSpPr>
          <p:spPr>
            <a:xfrm>
              <a:off x="9579620" y="2478024"/>
              <a:ext cx="1606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53030"/>
                </a:buClr>
                <a:buSzPts val="1200"/>
                <a:buFont typeface="Calibri"/>
                <a:buNone/>
              </a:pPr>
              <a:r>
                <a:rPr b="1" i="0" lang="en-US" sz="1200" u="none" cap="none" strike="noStrike">
                  <a:solidFill>
                    <a:srgbClr val="C53030"/>
                  </a:solidFill>
                  <a:latin typeface="Calibri"/>
                  <a:ea typeface="Calibri"/>
                  <a:cs typeface="Calibri"/>
                  <a:sym typeface="Calibri"/>
                </a:rPr>
                <a:t>$143k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9" name="Google Shape;299;p11"/>
          <p:cNvSpPr/>
          <p:nvPr/>
        </p:nvSpPr>
        <p:spPr>
          <a:xfrm>
            <a:off x="1005840" y="3042924"/>
            <a:ext cx="101800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30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53030"/>
                </a:solidFill>
                <a:latin typeface="Calibri"/>
                <a:ea typeface="Calibri"/>
                <a:cs typeface="Calibri"/>
                <a:sym typeface="Calibri"/>
              </a:rPr>
              <a:t>Highlight: Halifax shows a consistent premium within level (verify market rationale vs policy drift).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1005840" y="3408684"/>
            <a:ext cx="101800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Top ratings (Often Exceeds + Leads) by office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1" name="Google Shape;301;p11"/>
          <p:cNvGraphicFramePr/>
          <p:nvPr/>
        </p:nvGraphicFramePr>
        <p:xfrm>
          <a:off x="1005840" y="3819582"/>
          <a:ext cx="10180015" cy="2261902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302" name="Google Shape;302;p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cap="flat" cmpd="sng" w="12700">
            <a:solidFill>
              <a:srgbClr val="F3F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548640" y="6601968"/>
            <a:ext cx="5943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H4L Inc. | People Analytics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11185855" y="660196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B"/>
          </a:solidFill>
          <a:ln cap="flat" cmpd="sng" w="12700">
            <a:solidFill>
              <a:srgbClr val="0B1F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Appendix A5 — Additional Diagnostics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548640" y="457200"/>
            <a:ext cx="1109441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7E3F4"/>
                </a:solidFill>
                <a:latin typeface="Calibri"/>
                <a:ea typeface="Calibri"/>
                <a:cs typeface="Calibri"/>
                <a:sym typeface="Calibri"/>
              </a:rPr>
              <a:t>PTO behaviour vs engagement (directional, not causal)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548640" y="960120"/>
            <a:ext cx="11094415" cy="5303520"/>
          </a:xfrm>
          <a:prstGeom prst="roundRect">
            <a:avLst>
              <a:gd fmla="val 9552" name="adj"/>
            </a:avLst>
          </a:prstGeom>
          <a:solidFill>
            <a:srgbClr val="FFFFFF"/>
          </a:solidFill>
          <a:ln cap="flat" cmpd="sng" w="127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3970">
              <a:srgbClr val="000000">
                <a:alpha val="9804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868680" y="10789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F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Average engagement and performance by PTO taken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5" name="Google Shape;315;p12"/>
          <p:cNvGraphicFramePr/>
          <p:nvPr/>
        </p:nvGraphicFramePr>
        <p:xfrm>
          <a:off x="1051560" y="1417320"/>
          <a:ext cx="10134295" cy="3691714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316" name="Google Shape;316;p12"/>
          <p:cNvSpPr/>
          <p:nvPr/>
        </p:nvSpPr>
        <p:spPr>
          <a:xfrm>
            <a:off x="1051560" y="5196119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How to use this view</a:t>
            </a:r>
            <a:b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Engagement rises slightly as PTO taken increases — consistent with “recovery helps.”</a:t>
            </a:r>
            <a:b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Highest PTO bin shows lower mapped performance (may reflect leave timing, workload, or role mix).</a:t>
            </a:r>
            <a:b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Recommendation: pair PTO norms with capacity planning (avoid burnout without sacrificing outcomes).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cap="flat" cmpd="sng" w="12700">
            <a:solidFill>
              <a:srgbClr val="F3F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548640" y="6601968"/>
            <a:ext cx="5943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H4L Inc. | People Analytics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11185855" y="660196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2026-01-01T23:41:50Z</dcterms:created>
  <dc:creator>H4L People Analytics</dc:creator>
</cp:coreProperties>
</file>